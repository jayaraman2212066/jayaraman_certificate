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4"/>
  </p:notesMasterIdLst>
  <p:sldIdLst>
    <p:sldId id="256" r:id="rId3"/>
    <p:sldId id="258" r:id="rId4"/>
    <p:sldId id="259" r:id="rId5"/>
    <p:sldId id="267" r:id="rId6"/>
    <p:sldId id="261" r:id="rId7"/>
    <p:sldId id="262" r:id="rId8"/>
    <p:sldId id="268" r:id="rId9"/>
    <p:sldId id="264" r:id="rId10"/>
    <p:sldId id="265" r:id="rId11"/>
    <p:sldId id="269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85E8CD3-69CC-41AA-B5EC-8C31DB9EDE92}">
  <a:tblStyle styleId="{685E8CD3-69CC-41AA-B5EC-8C31DB9EDE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10b3853b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10b3853b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10b3853b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10b3853ba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10b3853ba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10b3853ba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10b3853ba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10b3853ba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B57B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828800" y="38100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Verdana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B57B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1828800" y="38100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Verdana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22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pic>
        <p:nvPicPr>
          <p:cNvPr id="50" name="Google Shape;50;p1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/>
          <p:nvPr/>
        </p:nvSpPr>
        <p:spPr>
          <a:xfrm>
            <a:off x="155576" y="2662518"/>
            <a:ext cx="11205244" cy="3004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342900" marR="0" lvl="0" indent="-341313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</a:t>
            </a:r>
            <a:endParaRPr lang="en-IN" dirty="0"/>
          </a:p>
          <a:p>
            <a:pPr marL="342900" marR="0" lvl="0" indent="-341313" algn="just" rtl="0">
              <a:spcBef>
                <a:spcPts val="60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2900" marR="0" lvl="0" indent="-341313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   </a:t>
            </a:r>
            <a:endParaRPr lang="en-IN" dirty="0"/>
          </a:p>
        </p:txBody>
      </p:sp>
      <p:sp>
        <p:nvSpPr>
          <p:cNvPr id="94" name="Google Shape;94;p25"/>
          <p:cNvSpPr/>
          <p:nvPr/>
        </p:nvSpPr>
        <p:spPr>
          <a:xfrm>
            <a:off x="3889375" y="46039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5" name="Google Shape;95;p25"/>
          <p:cNvSpPr/>
          <p:nvPr/>
        </p:nvSpPr>
        <p:spPr>
          <a:xfrm>
            <a:off x="0" y="13855"/>
            <a:ext cx="12192000" cy="1447800"/>
          </a:xfrm>
          <a:prstGeom prst="rect">
            <a:avLst/>
          </a:prstGeom>
          <a:solidFill>
            <a:srgbClr val="335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" name="Google Shape;96;p25"/>
          <p:cNvSpPr/>
          <p:nvPr/>
        </p:nvSpPr>
        <p:spPr>
          <a:xfrm>
            <a:off x="831175" y="1361200"/>
            <a:ext cx="9773100" cy="3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None/>
            </a:pPr>
            <a:endParaRPr sz="3200" dirty="0">
              <a:solidFill>
                <a:srgbClr val="0000FF"/>
              </a:solidFill>
            </a:endParaRPr>
          </a:p>
          <a:p>
            <a:pPr marL="1257300" lvl="0" indent="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400" b="1" dirty="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Final Year Project  *  2025-26</a:t>
            </a:r>
          </a:p>
          <a:p>
            <a:pPr marL="1257300" lvl="0" indent="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400" b="1" dirty="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A ONE  MONTH INTERNSHIP AT </a:t>
            </a:r>
          </a:p>
          <a:p>
            <a:pPr marL="1257300" lvl="0" indent="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400" b="1" dirty="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TATA GROUP – VOLTAS LIMITED</a:t>
            </a:r>
          </a:p>
          <a:p>
            <a:pPr algn="l"/>
            <a:r>
              <a:rPr lang="en-IN" sz="1800" b="0" i="0" u="none" strike="noStrike" baseline="0" dirty="0">
                <a:solidFill>
                  <a:srgbClr val="818181"/>
                </a:solidFill>
                <a:latin typeface="Lexend-Regular"/>
              </a:rPr>
              <a:t>			JAYARAMAN K - 3122225002305</a:t>
            </a:r>
          </a:p>
          <a:p>
            <a:pPr algn="l"/>
            <a:r>
              <a:rPr lang="en-IN" sz="1800" b="0" i="0" u="none" strike="noStrike" baseline="0" dirty="0">
                <a:solidFill>
                  <a:srgbClr val="818181"/>
                </a:solidFill>
                <a:latin typeface="Lexend-Regular"/>
              </a:rPr>
              <a:t>				IT - B</a:t>
            </a:r>
            <a:endParaRPr lang="en-IN" sz="3400" b="1" dirty="0">
              <a:solidFill>
                <a:srgbClr val="0000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None/>
            </a:pPr>
            <a:endParaRPr sz="3200" dirty="0">
              <a:solidFill>
                <a:srgbClr val="0000FF"/>
              </a:solidFill>
            </a:endParaRPr>
          </a:p>
        </p:txBody>
      </p:sp>
      <p:sp>
        <p:nvSpPr>
          <p:cNvPr id="97" name="Google Shape;97;p25" descr="Image result for twitter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8" name="Google Shape;98;p25" descr="Image result for twitter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9" name="Google Shape;99;p25" descr="Image result for twitter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0" name="Google Shape;100;p25" descr="Image result for twitter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1" name="Google Shape;101;p25"/>
          <p:cNvSpPr/>
          <p:nvPr/>
        </p:nvSpPr>
        <p:spPr>
          <a:xfrm>
            <a:off x="831180" y="4492942"/>
            <a:ext cx="324234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</a:pPr>
            <a:endParaRPr sz="3200" b="1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2" name="Google Shape;102;p25"/>
          <p:cNvSpPr/>
          <p:nvPr/>
        </p:nvSpPr>
        <p:spPr>
          <a:xfrm>
            <a:off x="8437549" y="4256783"/>
            <a:ext cx="3050796" cy="176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342900" marR="0" lvl="0" indent="-341313" algn="just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>
            <a:spLocks noGrp="1"/>
          </p:cNvSpPr>
          <p:nvPr>
            <p:ph type="title"/>
          </p:nvPr>
        </p:nvSpPr>
        <p:spPr>
          <a:xfrm>
            <a:off x="671119" y="228025"/>
            <a:ext cx="1091407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sz="3200" b="1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7"/>
          <p:cNvSpPr txBox="1">
            <a:spLocks noGrp="1"/>
          </p:cNvSpPr>
          <p:nvPr>
            <p:ph type="body" idx="1"/>
          </p:nvPr>
        </p:nvSpPr>
        <p:spPr>
          <a:xfrm>
            <a:off x="638961" y="1547769"/>
            <a:ext cx="10914077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 dirty="0">
                <a:latin typeface="Arial"/>
                <a:ea typeface="Arial"/>
                <a:cs typeface="Arial"/>
                <a:sym typeface="Arial"/>
              </a:rPr>
              <a:t> </a:t>
            </a:r>
            <a:endParaRPr lang="en-IN" sz="3300" dirty="0"/>
          </a:p>
        </p:txBody>
      </p:sp>
      <p:sp>
        <p:nvSpPr>
          <p:cNvPr id="115" name="Google Shape;115;p27" descr="Image result for singing bowl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7361B18-DD60-4F73-88D5-865790B78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388317"/>
              </p:ext>
            </p:extLst>
          </p:nvPr>
        </p:nvGraphicFramePr>
        <p:xfrm>
          <a:off x="2032000" y="1247986"/>
          <a:ext cx="7730385" cy="4898816"/>
        </p:xfrm>
        <a:graphic>
          <a:graphicData uri="http://schemas.openxmlformats.org/drawingml/2006/table">
            <a:tbl>
              <a:tblPr firstRow="1" bandRow="1">
                <a:tableStyleId>{685E8CD3-69CC-41AA-B5EC-8C31DB9EDE92}</a:tableStyleId>
              </a:tblPr>
              <a:tblGrid>
                <a:gridCol w="330518">
                  <a:extLst>
                    <a:ext uri="{9D8B030D-6E8A-4147-A177-3AD203B41FA5}">
                      <a16:colId xmlns:a16="http://schemas.microsoft.com/office/drawing/2014/main" val="2875836571"/>
                    </a:ext>
                  </a:extLst>
                </a:gridCol>
                <a:gridCol w="7399867">
                  <a:extLst>
                    <a:ext uri="{9D8B030D-6E8A-4147-A177-3AD203B41FA5}">
                      <a16:colId xmlns:a16="http://schemas.microsoft.com/office/drawing/2014/main" val="2969908390"/>
                    </a:ext>
                  </a:extLst>
                </a:gridCol>
              </a:tblGrid>
              <a:tr h="61235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Internship Overview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351053"/>
                  </a:ext>
                </a:extLst>
              </a:tr>
              <a:tr h="612352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Roles and Responsibilities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779751"/>
                  </a:ext>
                </a:extLst>
              </a:tr>
              <a:tr h="612352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021460"/>
                  </a:ext>
                </a:extLst>
              </a:tr>
              <a:tr h="612352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770869"/>
                  </a:ext>
                </a:extLst>
              </a:tr>
              <a:tr h="612352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 and Solutions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304626"/>
                  </a:ext>
                </a:extLst>
              </a:tr>
              <a:tr h="612352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Practices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888178"/>
                  </a:ext>
                </a:extLst>
              </a:tr>
              <a:tr h="612352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369592"/>
                  </a:ext>
                </a:extLst>
              </a:tr>
              <a:tr h="612352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4621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Overview</a:t>
            </a:r>
            <a:endParaRPr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E64E5-1586-4A7B-BC47-A285D8F810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627153"/>
            <a:ext cx="15234705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Internship conducted under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Voltas Limited, a TATA Group Company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Duration: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Month (July 9 – August 9, 2025)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Building Management Systems (BMS) and Industrial Automation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 To understand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 and automation systems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real-world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Worked under IT and BMS teams focusing on system monitoring and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prototype automation website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improve operational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5D599-C7F1-443D-BF69-910E289DC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731836"/>
          </a:xfrm>
        </p:spPr>
        <p:txBody>
          <a:bodyPr/>
          <a:lstStyle/>
          <a:p>
            <a:r>
              <a:rPr lang="en-I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Roles and Responsibility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15518-928E-4837-BA98-A29681A2A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838201"/>
            <a:ext cx="10972800" cy="5287964"/>
          </a:xfrm>
        </p:spPr>
        <p:txBody>
          <a:bodyPr/>
          <a:lstStyle/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communication protocols such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Modbus RTU/TCP and BACnet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RS-485 physical layer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IP communication setups in automation panels.</a:t>
            </a:r>
          </a:p>
          <a:p>
            <a:pPr marL="11430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peer-to-peer communication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control devices.</a:t>
            </a:r>
          </a:p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Assisted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data flow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hardware and software systems.</a:t>
            </a:r>
          </a:p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and developed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automation web interface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monitoring devices.</a:t>
            </a:r>
          </a:p>
          <a:p>
            <a:pPr marL="11430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Participated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 and performance evaluation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control units.</a:t>
            </a:r>
          </a:p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Collaborated with senior engineers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troubleshooting and optimization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5229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>
            <a:spLocks noGrp="1"/>
          </p:cNvSpPr>
          <p:nvPr>
            <p:ph type="title"/>
          </p:nvPr>
        </p:nvSpPr>
        <p:spPr>
          <a:xfrm>
            <a:off x="609600" y="6"/>
            <a:ext cx="10972800" cy="644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  <a:endParaRPr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Google Shape;133;p30"/>
          <p:cNvSpPr txBox="1">
            <a:spLocks noGrp="1"/>
          </p:cNvSpPr>
          <p:nvPr>
            <p:ph type="body" idx="1"/>
          </p:nvPr>
        </p:nvSpPr>
        <p:spPr>
          <a:xfrm>
            <a:off x="609600" y="685800"/>
            <a:ext cx="10972800" cy="6172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focus is mainly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networking concepts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applications demand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exposure to industrial communication protocols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college exposure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acquisition and BMS systems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knowledge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hardware, IoT, and web automation.</a:t>
            </a:r>
          </a:p>
          <a:p>
            <a:pPr marL="11430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understanding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 conversion and network diagnostics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required.</a:t>
            </a:r>
          </a:p>
          <a:p>
            <a:pPr marL="11430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bridged the gap by offering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system-level experience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clarity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automation supports energy efficiency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real-world systems.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 txBox="1">
            <a:spLocks noGrp="1"/>
          </p:cNvSpPr>
          <p:nvPr>
            <p:ph type="title"/>
          </p:nvPr>
        </p:nvSpPr>
        <p:spPr>
          <a:xfrm>
            <a:off x="609600" y="139568"/>
            <a:ext cx="10972800" cy="494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5CD847-D3DE-4496-8364-11B14BE76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600504"/>
            <a:ext cx="10972800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Protocols: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Modbus RTU/TCP, BACnet.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Networking Layers: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RS-485, Ethernet, IP Configuration.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JavaScript, Flask/Python (for automation prototype).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Monitoring Tools: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SCADA interface and BMS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 Familiarization: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Sensors, Controllers, Automation Panels.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SQLite / JSON-based data logging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GitHub for storing project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MS Word, PowerPoint, and Excel for reporting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2DDCC-4656-41B0-B1FB-AF79C28E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09600"/>
          </a:xfrm>
        </p:spPr>
        <p:txBody>
          <a:bodyPr/>
          <a:lstStyle/>
          <a:p>
            <a:r>
              <a:rPr lang="en-IN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Solutions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113A97-CD5D-408D-8E4C-A92A486B77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2205" y="744788"/>
            <a:ext cx="10650673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complex communication protocols.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Studied Modbus and BACnet data flow with mentor guidance.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between hardware signals and web modules.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Built a simulation-based automation website for testing.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Network latency and data synchronization issues.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basic caching and local data handling.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Limited access to proprietary equipment.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Used open simulation tools to replicate BMS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7323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10972800" cy="6381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200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				</a:t>
            </a:r>
            <a:r>
              <a:rPr lang="en-I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Best Practices</a:t>
            </a:r>
            <a:endParaRPr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Google Shape;153;p33"/>
          <p:cNvSpPr txBox="1">
            <a:spLocks noGrp="1"/>
          </p:cNvSpPr>
          <p:nvPr>
            <p:ph type="body" idx="1"/>
          </p:nvPr>
        </p:nvSpPr>
        <p:spPr>
          <a:xfrm>
            <a:off x="609600" y="523875"/>
            <a:ext cx="10972800" cy="59599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documentation and daily progress tracking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safety and protocol handling guidelines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14300" indent="0"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modular coding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web automation project.</a:t>
            </a:r>
          </a:p>
          <a:p>
            <a:pPr marL="114300" indent="0"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the importance of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cross-functional collaboration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accuracy, reliability, and system uptime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14300" indent="0"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 reporting and clear communication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mentors.</a:t>
            </a:r>
          </a:p>
          <a:p>
            <a:pPr marL="114300" indent="0"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14300" indent="0"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Adapted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Voltas’s sustainability-driven and innovation-oriented work culture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>
            <a:spLocks noGrp="1"/>
          </p:cNvSpPr>
          <p:nvPr>
            <p:ph type="title"/>
          </p:nvPr>
        </p:nvSpPr>
        <p:spPr>
          <a:xfrm>
            <a:off x="412175" y="274638"/>
            <a:ext cx="10972800" cy="457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200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				Outcomes </a:t>
            </a:r>
            <a:endParaRPr sz="3200" dirty="0">
              <a:solidFill>
                <a:srgbClr val="0000FF"/>
              </a:solidFill>
            </a:endParaRPr>
          </a:p>
        </p:txBody>
      </p:sp>
      <p:sp>
        <p:nvSpPr>
          <p:cNvPr id="159" name="Google Shape;159;p34"/>
          <p:cNvSpPr txBox="1">
            <a:spLocks noGrp="1"/>
          </p:cNvSpPr>
          <p:nvPr>
            <p:ph type="body" idx="1"/>
          </p:nvPr>
        </p:nvSpPr>
        <p:spPr>
          <a:xfrm>
            <a:off x="609600" y="731699"/>
            <a:ext cx="10972800" cy="539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087C13-7F55-4BC1-A651-D8B4178D7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731699"/>
            <a:ext cx="11049000" cy="57723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DA81B-057D-4E29-9D48-21E4F4D14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DFEA6-E545-442E-899E-25491B024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CBEA93-F019-44C8-8483-CC3911809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274638"/>
            <a:ext cx="11176000" cy="622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12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>
            <a:spLocks noGrp="1"/>
          </p:cNvSpPr>
          <p:nvPr>
            <p:ph type="title"/>
          </p:nvPr>
        </p:nvSpPr>
        <p:spPr>
          <a:xfrm>
            <a:off x="609600" y="274643"/>
            <a:ext cx="10972800" cy="48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dirty="0">
                <a:solidFill>
                  <a:srgbClr val="0000FF"/>
                </a:solidFill>
              </a:rPr>
              <a:t>Conclusion</a:t>
            </a:r>
            <a:endParaRPr sz="3600" b="1" dirty="0">
              <a:solidFill>
                <a:srgbClr val="0000FF"/>
              </a:solidFill>
            </a:endParaRPr>
          </a:p>
        </p:txBody>
      </p:sp>
      <p:sp>
        <p:nvSpPr>
          <p:cNvPr id="165" name="Google Shape;165;p35"/>
          <p:cNvSpPr txBox="1">
            <a:spLocks noGrp="1"/>
          </p:cNvSpPr>
          <p:nvPr>
            <p:ph type="body" idx="1"/>
          </p:nvPr>
        </p:nvSpPr>
        <p:spPr>
          <a:xfrm>
            <a:off x="609600" y="820875"/>
            <a:ext cx="10972800" cy="5211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at Voltas Limited provided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valuable industry exposure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Bridged the gap between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theory and industrial practice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technical foundation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BMS, Modbus, and automation systems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Helped understand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structure, ethics, and innovation workflow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Gave clarity on future goals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IoT, AI-based automation, and embedded systems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1430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was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transformative learning experience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blending technology and professionalism.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heme9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655</Words>
  <Application>Microsoft Office PowerPoint</Application>
  <PresentationFormat>Widescreen</PresentationFormat>
  <Paragraphs>107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Lexend-Regular</vt:lpstr>
      <vt:lpstr>Times New Roman</vt:lpstr>
      <vt:lpstr>Verdana</vt:lpstr>
      <vt:lpstr>Theme9</vt:lpstr>
      <vt:lpstr>1_Theme9</vt:lpstr>
      <vt:lpstr>PowerPoint Presentation</vt:lpstr>
      <vt:lpstr>Table Of Contents</vt:lpstr>
      <vt:lpstr>Internship Overview</vt:lpstr>
      <vt:lpstr>Roles and Responsibility</vt:lpstr>
      <vt:lpstr>Gap Analysis</vt:lpstr>
      <vt:lpstr>Technology Stack</vt:lpstr>
      <vt:lpstr>Challenges And Solutions</vt:lpstr>
      <vt:lpstr>    Best Practices</vt:lpstr>
      <vt:lpstr>    Outcomes 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JAYARAMAN K</cp:lastModifiedBy>
  <cp:revision>8</cp:revision>
  <dcterms:modified xsi:type="dcterms:W3CDTF">2025-10-15T12:35:29Z</dcterms:modified>
</cp:coreProperties>
</file>